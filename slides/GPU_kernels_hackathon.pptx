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416394d-724a-b384-5d45-ee2149092e97}">
          <p14:sldIdLst>
            <p14:sldId id="256"/>
            <p14:sldId id="257"/>
          </p14:sldIdLst>
        </p14:section>
        <p14:section name="Results" id="{2afa50e2-6bee-7a5c-318a-37c4044adac0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FP16</c:v>
                </c:pt>
              </c:strCache>
            </c:strRef>
          </c:tx>
          <c:spPr>
            <a:solidFill>
              <a:srgbClr val="76B900"/>
            </a:solidFill>
            <a:ln w="34925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128</c:v>
                  </c:pt>
                  <c:pt idx="1">
                    <c:v>256</c:v>
                  </c:pt>
                  <c:pt idx="2">
                    <c:v>512</c:v>
                  </c:pt>
                  <c:pt idx="3">
                    <c:v>1k</c:v>
                  </c:pt>
                  <c:pt idx="4">
                    <c:v>2k</c:v>
                  </c:pt>
                  <c:pt idx="5">
                    <c:v>4k</c:v>
                  </c:pt>
                  <c:pt idx="6">
                    <c:v>8k</c:v>
                  </c:pt>
                  <c:pt idx="7">
                    <c:v>16k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0.3888073150647574</c:v>
                </c:pt>
                <c:pt idx="1">
                  <c:v>3.102661241866888</c:v>
                </c:pt>
                <c:pt idx="2">
                  <c:v>24.452962210295336</c:v>
                </c:pt>
                <c:pt idx="3">
                  <c:v>153.28952441749212</c:v>
                </c:pt>
                <c:pt idx="4">
                  <c:v>170.91017147879288</c:v>
                </c:pt>
                <c:pt idx="5">
                  <c:v>206.51398056057894</c:v>
                </c:pt>
                <c:pt idx="6">
                  <c:v>211.10573635624144</c:v>
                </c:pt>
                <c:pt idx="7">
                  <c:v>215.07207396381895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TF32</c:v>
                </c:pt>
              </c:strCache>
            </c:strRef>
          </c:tx>
          <c:spPr>
            <a:solidFill>
              <a:srgbClr val="E6A817"/>
            </a:solidFill>
            <a:ln w="34925" cap="flat">
              <a:solidFill>
                <a:srgbClr val="E6A8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6A817"/>
              </a:solidFill>
              <a:ln w="9525" cap="flat">
                <a:solidFill>
                  <a:srgbClr val="E6A8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128</c:v>
                  </c:pt>
                  <c:pt idx="1">
                    <c:v>256</c:v>
                  </c:pt>
                  <c:pt idx="2">
                    <c:v>512</c:v>
                  </c:pt>
                  <c:pt idx="3">
                    <c:v>1k</c:v>
                  </c:pt>
                  <c:pt idx="4">
                    <c:v>2k</c:v>
                  </c:pt>
                  <c:pt idx="5">
                    <c:v>4k</c:v>
                  </c:pt>
                  <c:pt idx="6">
                    <c:v>8k</c:v>
                  </c:pt>
                  <c:pt idx="7">
                    <c:v>16k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0.3895850775987158</c:v>
                </c:pt>
                <c:pt idx="1">
                  <c:v>3.1256029308890874</c:v>
                </c:pt>
                <c:pt idx="2">
                  <c:v>24.625270386817164</c:v>
                </c:pt>
                <c:pt idx="3">
                  <c:v>81.54151342181272</c:v>
                </c:pt>
                <c:pt idx="4">
                  <c:v>90.3454200883474</c:v>
                </c:pt>
                <c:pt idx="5">
                  <c:v>101.0726891538127</c:v>
                </c:pt>
                <c:pt idx="6">
                  <c:v>111.7255838080376</c:v>
                </c:pt>
                <c:pt idx="7">
                  <c:v>116.47357297094847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FP32</c:v>
                </c:pt>
              </c:strCache>
            </c:strRef>
          </c:tx>
          <c:spPr>
            <a:solidFill>
              <a:srgbClr val="3B82F6"/>
            </a:solidFill>
            <a:ln w="34925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128</c:v>
                  </c:pt>
                  <c:pt idx="1">
                    <c:v>256</c:v>
                  </c:pt>
                  <c:pt idx="2">
                    <c:v>512</c:v>
                  </c:pt>
                  <c:pt idx="3">
                    <c:v>1k</c:v>
                  </c:pt>
                  <c:pt idx="4">
                    <c:v>2k</c:v>
                  </c:pt>
                  <c:pt idx="5">
                    <c:v>4k</c:v>
                  </c:pt>
                  <c:pt idx="6">
                    <c:v>8k</c:v>
                  </c:pt>
                  <c:pt idx="7">
                    <c:v>16k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0.2963544469990164</c:v>
                </c:pt>
                <c:pt idx="1">
                  <c:v>2.365333394520853</c:v>
                </c:pt>
                <c:pt idx="2">
                  <c:v>10.090675186147243</c:v>
                </c:pt>
                <c:pt idx="3">
                  <c:v>42.844888129229844</c:v>
                </c:pt>
                <c:pt idx="4">
                  <c:v>56.81963968832794</c:v>
                </c:pt>
                <c:pt idx="5">
                  <c:v>61.75855988147008</c:v>
                </c:pt>
                <c:pt idx="6">
                  <c:v>65.54934599604786</c:v>
                </c:pt>
                <c:pt idx="7">
                  <c:v>65.75837715566398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FP64</c:v>
                </c:pt>
              </c:strCache>
            </c:strRef>
          </c:tx>
          <c:spPr>
            <a:solidFill>
              <a:srgbClr val="2B3A4F"/>
            </a:solidFill>
            <a:ln w="34925" cap="flat">
              <a:solidFill>
                <a:srgbClr val="2B3A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B3A4F"/>
              </a:solidFill>
              <a:ln w="9525" cap="flat">
                <a:solidFill>
                  <a:srgbClr val="2B3A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128</c:v>
                  </c:pt>
                  <c:pt idx="1">
                    <c:v>256</c:v>
                  </c:pt>
                  <c:pt idx="2">
                    <c:v>512</c:v>
                  </c:pt>
                  <c:pt idx="3">
                    <c:v>1k</c:v>
                  </c:pt>
                  <c:pt idx="4">
                    <c:v>2k</c:v>
                  </c:pt>
                  <c:pt idx="5">
                    <c:v>4k</c:v>
                  </c:pt>
                  <c:pt idx="6">
                    <c:v>8k</c:v>
                  </c:pt>
                  <c:pt idx="7">
                    <c:v>16k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0.151708553851262</c:v>
                </c:pt>
                <c:pt idx="1">
                  <c:v>0.6281338010704187</c:v>
                </c:pt>
                <c:pt idx="2">
                  <c:v>1.2839825399849758</c:v>
                </c:pt>
                <c:pt idx="3">
                  <c:v>1.2966534298612138</c:v>
                </c:pt>
                <c:pt idx="4">
                  <c:v>1.5915657570457915</c:v>
                </c:pt>
                <c:pt idx="5">
                  <c:v>1.6899264490323727</c:v>
                </c:pt>
                <c:pt idx="6">
                  <c:v>1.7156352695229655</c:v>
                </c:pt>
                <c:pt idx="7">
                  <c:v>1.7168948821130496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3A4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matrix size 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1D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"/>
          <c:min val="0.1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TFLOP/s  (log scale)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A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3A4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3A4F"/>
                </a:solidFill>
                <a:latin typeface="+mn-lt"/>
              </a:rPr>
              <a:t>SpMV bandwidth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 1 core</c:v>
                </c:pt>
              </c:strCache>
            </c:strRef>
          </c:tx>
          <c:spPr>
            <a:solidFill>
              <a:srgbClr val="9AA5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cant*</c:v>
                  </c:pt>
                  <c:pt idx="1">
                    <c:v>ecology2*</c:v>
                  </c:pt>
                  <c:pt idx="2">
                    <c:v>webbase-1M*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25.53345989074305</c:v>
                </c:pt>
                <c:pt idx="1">
                  <c:v>23.73775666185686</c:v>
                </c:pt>
                <c:pt idx="2">
                  <c:v>8.03587984540848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 cold</c:v>
                </c:pt>
              </c:strCache>
            </c:strRef>
          </c:tx>
          <c:spPr>
            <a:solidFill>
              <a:srgbClr val="76B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cant*</c:v>
                  </c:pt>
                  <c:pt idx="1">
                    <c:v>ecology2*</c:v>
                  </c:pt>
                  <c:pt idx="2">
                    <c:v>webbase-1M*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903.2865291484758</c:v>
                </c:pt>
                <c:pt idx="1">
                  <c:v>1055.1098041191271</c:v>
                </c:pt>
                <c:pt idx="2">
                  <c:v>929.5642744923634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GPU warm</c:v>
                </c:pt>
              </c:strCache>
            </c:strRef>
          </c:tx>
          <c:spPr>
            <a:solidFill>
              <a:srgbClr val="B9DC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cant*</c:v>
                  </c:pt>
                  <c:pt idx="1">
                    <c:v>ecology2*</c:v>
                  </c:pt>
                  <c:pt idx="2">
                    <c:v>webbase-1M*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1315.9733407326496</c:v>
                </c:pt>
                <c:pt idx="1">
                  <c:v>1617.9650570219533</c:v>
                </c:pt>
                <c:pt idx="2">
                  <c:v>1579.3147981958982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3A4F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STREAM 1,576 GB/s</c:v>
                </c:pt>
              </c:strCache>
            </c:strRef>
          </c:tx>
          <c:spPr>
            <a:solidFill>
              <a:srgbClr val="2B3A4F"/>
            </a:solidFill>
            <a:ln w="25400" cap="flat">
              <a:solidFill>
                <a:srgbClr val="2B3A4F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B3A4F"/>
              </a:solidFill>
              <a:ln w="9525" cap="flat">
                <a:solidFill>
                  <a:srgbClr val="2B3A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cant*</c:v>
                  </c:pt>
                  <c:pt idx="1">
                    <c:v>ecology2*</c:v>
                  </c:pt>
                  <c:pt idx="2">
                    <c:v>webbase-1M*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1575.907870128445</c:v>
                </c:pt>
                <c:pt idx="1">
                  <c:v>1575.907870128445</c:v>
                </c:pt>
                <c:pt idx="2">
                  <c:v>1575.907870128445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3A4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1DE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achieved bandwidth  [GB/s]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A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3A4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3A4F"/>
                </a:solidFill>
                <a:latin typeface="+mn-lt"/>
              </a:rPr>
              <a:t>Roofline: min(1.72 TFLOP/s, I × 1.58 TB/s)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Roof (measured)</c:v>
                </c:pt>
              </c:strCache>
            </c:strRef>
          </c:tx>
          <c:spPr>
            <a:ln w="38100" cap="rnd">
              <a:solidFill>
                <a:srgbClr val="2B3A4F"/>
              </a:solidFill>
              <a:round/>
            </a:ln>
          </c:spPr>
          <c:marker>
            <c:symbol val="none"/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0.01</c:v>
                </c:pt>
                <c:pt idx="1">
                  <c:v>1.0894639938393818</c:v>
                </c:pt>
                <c:pt idx="2">
                  <c:v>10000</c:v>
                </c:pt>
                <c:pt idx="3">
                  <c:v>10.666666666666666</c:v>
                </c:pt>
                <c:pt idx="4">
                  <c:v>21.333333333333332</c:v>
                </c:pt>
                <c:pt idx="5">
                  <c:v>42.666666666666664</c:v>
                </c:pt>
                <c:pt idx="6">
                  <c:v>85.33333333333333</c:v>
                </c:pt>
                <c:pt idx="7">
                  <c:v>170.66666666666666</c:v>
                </c:pt>
                <c:pt idx="8">
                  <c:v>341.3333333333333</c:v>
                </c:pt>
                <c:pt idx="9">
                  <c:v>682.6666666666666</c:v>
                </c:pt>
                <c:pt idx="10">
                  <c:v>1365.3333333333333</c:v>
                </c:pt>
                <c:pt idx="11">
                  <c:v>0.1624989298899106</c:v>
                </c:pt>
                <c:pt idx="12">
                  <c:v>0.12497497873849416</c:v>
                </c:pt>
                <c:pt idx="13">
                  <c:v>0.08328850112685005</c:v>
                </c:pt>
              </c:numCache>
            </c:numRef>
          </c:xVal>
          <c:yVal>
            <c:numRef>
              <c:f>Sheet1!$B$2:$B$15</c:f>
              <c:numCache>
                <c:formatCode>General</c:formatCode>
                <c:ptCount val="14"/>
                <c:pt idx="0">
                  <c:v>15.75907870128445</c:v>
                </c:pt>
                <c:pt idx="1">
                  <c:v>1716.8948821130496</c:v>
                </c:pt>
                <c:pt idx="2">
                  <c:v>1716.8948821130496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DGEMM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9"/>
            <c:spPr>
              <a:solidFill>
                <a:srgbClr val="76B900"/>
              </a:solidFill>
              <a:ln w="12700">
                <a:solidFill>
                  <a:srgbClr val="FFFFFF"/>
                </a:solidFill>
              </a:ln>
            </c:spPr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0.01</c:v>
                </c:pt>
                <c:pt idx="1">
                  <c:v>1.0894639938393818</c:v>
                </c:pt>
                <c:pt idx="2">
                  <c:v>10000</c:v>
                </c:pt>
                <c:pt idx="3">
                  <c:v>10.666666666666666</c:v>
                </c:pt>
                <c:pt idx="4">
                  <c:v>21.333333333333332</c:v>
                </c:pt>
                <c:pt idx="5">
                  <c:v>42.666666666666664</c:v>
                </c:pt>
                <c:pt idx="6">
                  <c:v>85.33333333333333</c:v>
                </c:pt>
                <c:pt idx="7">
                  <c:v>170.66666666666666</c:v>
                </c:pt>
                <c:pt idx="8">
                  <c:v>341.3333333333333</c:v>
                </c:pt>
                <c:pt idx="9">
                  <c:v>682.6666666666666</c:v>
                </c:pt>
                <c:pt idx="10">
                  <c:v>1365.3333333333333</c:v>
                </c:pt>
                <c:pt idx="11">
                  <c:v>0.1624989298899106</c:v>
                </c:pt>
                <c:pt idx="12">
                  <c:v>0.12497497873849416</c:v>
                </c:pt>
                <c:pt idx="13">
                  <c:v>0.08328850112685005</c:v>
                </c:pt>
              </c:numCache>
            </c:numRef>
          </c:xVal>
          <c:yVal>
            <c:numRef>
              <c:f>Sheet1!$C$2:$C$15</c:f>
              <c:numCache>
                <c:formatCode>General</c:formatCode>
                <c:ptCount val="14"/>
                <c:pt idx="3">
                  <c:v>151.708553851262</c:v>
                </c:pt>
                <c:pt idx="4">
                  <c:v>628.1338010704187</c:v>
                </c:pt>
                <c:pt idx="5">
                  <c:v>1283.9825399849758</c:v>
                </c:pt>
                <c:pt idx="6">
                  <c:v>1296.6534298612137</c:v>
                </c:pt>
                <c:pt idx="7">
                  <c:v>1591.5657570457915</c:v>
                </c:pt>
                <c:pt idx="8">
                  <c:v>1689.9264490323726</c:v>
                </c:pt>
                <c:pt idx="9">
                  <c:v>1715.6352695229655</c:v>
                </c:pt>
                <c:pt idx="10">
                  <c:v>1716.8948821130496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SpMV cant*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2"/>
            <c:spPr>
              <a:solidFill>
                <a:srgbClr val="E6A817"/>
              </a:solidFill>
              <a:ln w="12700">
                <a:solidFill>
                  <a:srgbClr val="FFFFFF"/>
                </a:solidFill>
              </a:ln>
            </c:spPr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0.01</c:v>
                </c:pt>
                <c:pt idx="1">
                  <c:v>1.0894639938393818</c:v>
                </c:pt>
                <c:pt idx="2">
                  <c:v>10000</c:v>
                </c:pt>
                <c:pt idx="3">
                  <c:v>10.666666666666666</c:v>
                </c:pt>
                <c:pt idx="4">
                  <c:v>21.333333333333332</c:v>
                </c:pt>
                <c:pt idx="5">
                  <c:v>42.666666666666664</c:v>
                </c:pt>
                <c:pt idx="6">
                  <c:v>85.33333333333333</c:v>
                </c:pt>
                <c:pt idx="7">
                  <c:v>170.66666666666666</c:v>
                </c:pt>
                <c:pt idx="8">
                  <c:v>341.3333333333333</c:v>
                </c:pt>
                <c:pt idx="9">
                  <c:v>682.6666666666666</c:v>
                </c:pt>
                <c:pt idx="10">
                  <c:v>1365.3333333333333</c:v>
                </c:pt>
                <c:pt idx="11">
                  <c:v>0.1624989298899106</c:v>
                </c:pt>
                <c:pt idx="12">
                  <c:v>0.12497497873849416</c:v>
                </c:pt>
                <c:pt idx="13">
                  <c:v>0.08328850112685005</c:v>
                </c:pt>
              </c:numCache>
            </c:numRef>
          </c:xVal>
          <c:yVal>
            <c:numRef>
              <c:f>Sheet1!$D$2:$D$15</c:f>
              <c:numCache>
                <c:formatCode>General</c:formatCode>
                <c:ptCount val="14"/>
                <c:pt idx="11">
                  <c:v>146.7830943705989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SpMV ecology2*</c:v>
                </c:pt>
              </c:strCache>
            </c:strRef>
          </c:tx>
          <c:spPr>
            <a:ln>
              <a:noFill/>
            </a:ln>
          </c:spPr>
          <c:marker>
            <c:symbol val="square"/>
            <c:size val="12"/>
            <c:spPr>
              <a:solidFill>
                <a:srgbClr val="C77700"/>
              </a:solidFill>
              <a:ln w="12700">
                <a:solidFill>
                  <a:srgbClr val="FFFFFF"/>
                </a:solidFill>
              </a:ln>
            </c:spPr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0.01</c:v>
                </c:pt>
                <c:pt idx="1">
                  <c:v>1.0894639938393818</c:v>
                </c:pt>
                <c:pt idx="2">
                  <c:v>10000</c:v>
                </c:pt>
                <c:pt idx="3">
                  <c:v>10.666666666666666</c:v>
                </c:pt>
                <c:pt idx="4">
                  <c:v>21.333333333333332</c:v>
                </c:pt>
                <c:pt idx="5">
                  <c:v>42.666666666666664</c:v>
                </c:pt>
                <c:pt idx="6">
                  <c:v>85.33333333333333</c:v>
                </c:pt>
                <c:pt idx="7">
                  <c:v>170.66666666666666</c:v>
                </c:pt>
                <c:pt idx="8">
                  <c:v>341.3333333333333</c:v>
                </c:pt>
                <c:pt idx="9">
                  <c:v>682.6666666666666</c:v>
                </c:pt>
                <c:pt idx="10">
                  <c:v>1365.3333333333333</c:v>
                </c:pt>
                <c:pt idx="11">
                  <c:v>0.1624989298899106</c:v>
                </c:pt>
                <c:pt idx="12">
                  <c:v>0.12497497873849416</c:v>
                </c:pt>
                <c:pt idx="13">
                  <c:v>0.08328850112685005</c:v>
                </c:pt>
              </c:numCache>
            </c:numRef>
          </c:xVal>
          <c:yVal>
            <c:numRef>
              <c:f>Sheet1!$E$2:$E$15</c:f>
              <c:numCache>
                <c:formatCode>General</c:formatCode>
                <c:ptCount val="14"/>
                <c:pt idx="12">
                  <c:v>131.86232533656462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SpMV webbase-1M*</c:v>
                </c:pt>
              </c:strCache>
            </c:strRef>
          </c:tx>
          <c:spPr>
            <a:ln>
              <a:noFill/>
            </a:ln>
          </c:spPr>
          <c:marker>
            <c:symbol val="triangle"/>
            <c:size val="12"/>
            <c:spPr>
              <a:solidFill>
                <a:srgbClr val="F2C14E"/>
              </a:solidFill>
              <a:ln w="12700">
                <a:solidFill>
                  <a:srgbClr val="FFFFFF"/>
                </a:solidFill>
              </a:ln>
            </c:spPr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0.01</c:v>
                </c:pt>
                <c:pt idx="1">
                  <c:v>1.0894639938393818</c:v>
                </c:pt>
                <c:pt idx="2">
                  <c:v>10000</c:v>
                </c:pt>
                <c:pt idx="3">
                  <c:v>10.666666666666666</c:v>
                </c:pt>
                <c:pt idx="4">
                  <c:v>21.333333333333332</c:v>
                </c:pt>
                <c:pt idx="5">
                  <c:v>42.666666666666664</c:v>
                </c:pt>
                <c:pt idx="6">
                  <c:v>85.33333333333333</c:v>
                </c:pt>
                <c:pt idx="7">
                  <c:v>170.66666666666666</c:v>
                </c:pt>
                <c:pt idx="8">
                  <c:v>341.3333333333333</c:v>
                </c:pt>
                <c:pt idx="9">
                  <c:v>682.6666666666666</c:v>
                </c:pt>
                <c:pt idx="10">
                  <c:v>1365.3333333333333</c:v>
                </c:pt>
                <c:pt idx="11">
                  <c:v>0.1624989298899106</c:v>
                </c:pt>
                <c:pt idx="12">
                  <c:v>0.12497497873849416</c:v>
                </c:pt>
                <c:pt idx="13">
                  <c:v>0.08328850112685005</c:v>
                </c:pt>
              </c:numCache>
            </c:numRef>
          </c:xVal>
          <c:yVal>
            <c:numRef>
              <c:f>Sheet1!$F$2:$F$15</c:f>
              <c:numCache>
                <c:formatCode>General</c:formatCode>
                <c:ptCount val="14"/>
                <c:pt idx="13">
                  <c:v>77.42201512353675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B3A4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logBase val="10"/>
          <c:orientation val="minMax"/>
          <c:max val="10000"/>
          <c:min val="0.01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FLOP per byte (log)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9D1D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logBase val="10"/>
          <c:orientation val="minMax"/>
          <c:max val="10000"/>
          <c:min val="10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GFLOP/s (FP64, log)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A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CPU, 1 core</c:v>
                </c:pt>
              </c:strCache>
            </c:strRef>
          </c:tx>
          <c:spPr>
            <a:solidFill>
              <a:srgbClr val="2B3A4F"/>
            </a:solidFill>
            <a:ln w="34925" cap="flat">
              <a:solidFill>
                <a:srgbClr val="2B3A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B3A4F"/>
              </a:solidFill>
              <a:ln w="9525" cap="flat">
                <a:solidFill>
                  <a:srgbClr val="2B3A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256</c:v>
                  </c:pt>
                  <c:pt idx="1">
                    <c:v>1k</c:v>
                  </c:pt>
                  <c:pt idx="2">
                    <c:v>4k</c:v>
                  </c:pt>
                  <c:pt idx="3">
                    <c:v>16k</c:v>
                  </c:pt>
                  <c:pt idx="4">
                    <c:v>66k</c:v>
                  </c:pt>
                  <c:pt idx="5">
                    <c:v>262k</c:v>
                  </c:pt>
                  <c:pt idx="6">
                    <c:v>1M</c:v>
                  </c:pt>
                  <c:pt idx="7">
                    <c:v>4.2M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9.992904961109161</c:v>
                </c:pt>
                <c:pt idx="1">
                  <c:v>11.983700096607208</c:v>
                </c:pt>
                <c:pt idx="2">
                  <c:v>26.96884796023369</c:v>
                </c:pt>
                <c:pt idx="3">
                  <c:v>144.5458084344864</c:v>
                </c:pt>
                <c:pt idx="4">
                  <c:v>599.8423136770725</c:v>
                </c:pt>
                <c:pt idx="5">
                  <c:v>2058.381801471114</c:v>
                </c:pt>
                <c:pt idx="6">
                  <c:v>9325.787052512169</c:v>
                </c:pt>
                <c:pt idx="7">
                  <c:v>143319.25699487329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GPU, kernels only</c:v>
                </c:pt>
              </c:strCache>
            </c:strRef>
          </c:tx>
          <c:spPr>
            <a:solidFill>
              <a:srgbClr val="76B900"/>
            </a:solidFill>
            <a:ln w="34925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256</c:v>
                  </c:pt>
                  <c:pt idx="1">
                    <c:v>1k</c:v>
                  </c:pt>
                  <c:pt idx="2">
                    <c:v>4k</c:v>
                  </c:pt>
                  <c:pt idx="3">
                    <c:v>16k</c:v>
                  </c:pt>
                  <c:pt idx="4">
                    <c:v>66k</c:v>
                  </c:pt>
                  <c:pt idx="5">
                    <c:v>262k</c:v>
                  </c:pt>
                  <c:pt idx="6">
                    <c:v>1M</c:v>
                  </c:pt>
                  <c:pt idx="7">
                    <c:v>4.2M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84.20809172093868</c:v>
                </c:pt>
                <c:pt idx="1">
                  <c:v>85.15245281159878</c:v>
                </c:pt>
                <c:pt idx="2">
                  <c:v>83.89712311327457</c:v>
                </c:pt>
                <c:pt idx="3">
                  <c:v>84.565794095397</c:v>
                </c:pt>
                <c:pt idx="4">
                  <c:v>84.68232117593288</c:v>
                </c:pt>
                <c:pt idx="5">
                  <c:v>86.16731502115726</c:v>
                </c:pt>
                <c:pt idx="6">
                  <c:v>125.25754980742931</c:v>
                </c:pt>
                <c:pt idx="7">
                  <c:v>390.7494340091944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GPU, with copies</c:v>
                </c:pt>
              </c:strCache>
            </c:strRef>
          </c:tx>
          <c:spPr>
            <a:solidFill>
              <a:srgbClr val="E6A817"/>
            </a:solidFill>
            <a:ln w="34925" cap="flat">
              <a:solidFill>
                <a:srgbClr val="E6A8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A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6A817"/>
              </a:solidFill>
              <a:ln w="9525" cap="flat">
                <a:solidFill>
                  <a:srgbClr val="E6A8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256</c:v>
                  </c:pt>
                  <c:pt idx="1">
                    <c:v>1k</c:v>
                  </c:pt>
                  <c:pt idx="2">
                    <c:v>4k</c:v>
                  </c:pt>
                  <c:pt idx="3">
                    <c:v>16k</c:v>
                  </c:pt>
                  <c:pt idx="4">
                    <c:v>66k</c:v>
                  </c:pt>
                  <c:pt idx="5">
                    <c:v>262k</c:v>
                  </c:pt>
                  <c:pt idx="6">
                    <c:v>1M</c:v>
                  </c:pt>
                  <c:pt idx="7">
                    <c:v>4.2M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86.3805040717125</c:v>
                </c:pt>
                <c:pt idx="1">
                  <c:v>86.98318153619766</c:v>
                </c:pt>
                <c:pt idx="2">
                  <c:v>87.15998381376266</c:v>
                </c:pt>
                <c:pt idx="3">
                  <c:v>89.26203474402428</c:v>
                </c:pt>
                <c:pt idx="4">
                  <c:v>96.34610265493393</c:v>
                </c:pt>
                <c:pt idx="5">
                  <c:v>115.90041220188141</c:v>
                </c:pt>
                <c:pt idx="6">
                  <c:v>204.43622022867203</c:v>
                </c:pt>
                <c:pt idx="7">
                  <c:v>908.5723385214806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3A4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unknowns 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1D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00"/>
          <c:min val="1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5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577"/>
                    </a:solidFill>
                    <a:latin typeface="+mn-lt"/>
                  </a:rPr>
                  <a:t>µs per iteration (log)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3A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kernels with very different amounts of arithmetic per byte, one GPU, one CPU core as the baseline. The thread through the talk: arithmetic intensity tells you which hardware ceiling applies, and therefore what to optimise. All timings are warmed up, synchronised with CUDA events, medians, and say whether host-device copies are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the dense matrices for GEMM; the three sparse matrices for SpMV, drawn as non-zero density maps with an inset of the first rows so you can see the local structure — a wide band, a five-point stencil, and an irregular power-law pattern; and the 2-D Poisson problem we scale up for CG. The question for each: how many floating-point operations per byte does it need? GEMM reuses every element n times, SpMV uses each stored value once — 2 FLOP for 12 bytes. This GPU needs about 1.1 FLOP per byte before arithmetic becomes the limit, because its FP64 units run at 1/64 of FP32. Note: the sparse matrices are synthetic stand-ins because the SuiteSparse download failed on the run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Throughput rises with n until the tensor cores saturate around n = 4096. Below n ≈ 512 every call costs about 11 µs regardless of size — launch latency, the same effect that later decides CG. Precision is the big lever: FP16 with FP32 accumulation reaches 215 TFLOP/s, 125× DGEMM, at a relative error of about 4e-4 instead of 1e-7 in FP32. A timing pitfall worth mentioning: without synchronising, the same 4096³ GEMM appeared to run at 1,991 TFLOP/s — the clock had only measured the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with the L2 cache flushed, cuSPARSE moves 903–1055 GB/s; one CPU core manages 8–26. The irregular web-graph matrix hurts the CPU most, so the speed-up is largest there. Warm-cache bars exceed DRAM speed because the matrices fit in the 96 MB L2 — the cold numbers are the honest ones. Right: the roofline puts both parts of the talk on one chart. DGEMM points climb onto the flat compute roof as n grows; SpMV points sit far left on the sloped bandwidth roof. So the lever for GEMM is precision, and the lever for SpMV is bytes: compressed indices, lower-precision values, or multiplying several vectors at once. Matrices marked with a star are synthetic stand-ins.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green line is flat at about 85 µs per iteration from n = 256 to a quarter of a million unknowns: pure latency from about nine GPU operations and two host syncs per iteration. The CPU line grows with n at roughly 24 GB/s. Where they cross — about 10,502 unknowns — the GPU starts to win; a back-of-envelope model predicts 11,000. Copies matter when there are few iterations: cant converges in 23 iterations, so copies are 60% of the GPU time and the speed-up drops from 23× to 9.0×; ecology2 runs 500 iterations and keeps 85×. Closing message: compute-bound kernels — pick the precision; bandwidth-bound — count bytes; latency-bound — fewer launches and keep data resident.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6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0020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3756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Numerical Libraries Mini-Hackathon  ·  GPU kernels on real matrices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243584"/>
            <a:ext cx="110642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002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kernels on real matrices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3756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What limits dense GEMM, sparse SpMV and conjugate gradient on a GPU — and when the GPU actually pays off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749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GeForce RTX 5090  ·  CUDA 12.9  ·  CuPy 13.6.0     |     Numerical Libraries Mini-Hackathon</a:t>
            </a:r>
            <a:endParaRPr lang="en-US" sz="1400" dirty="0"/>
          </a:p>
        </p:txBody>
      </p:sp>
      <p:sp>
        <p:nvSpPr>
          <p:cNvPr id="5" name="part A card"/>
          <p:cNvSpPr/>
          <p:nvPr/>
        </p:nvSpPr>
        <p:spPr>
          <a:xfrm>
            <a:off x="8001000" y="16002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223049"/>
          </a:solidFill>
          <a:ln/>
        </p:spPr>
      </p:sp>
      <p:sp>
        <p:nvSpPr>
          <p:cNvPr id="6" name="part A icon circle"/>
          <p:cNvSpPr/>
          <p:nvPr/>
        </p:nvSpPr>
        <p:spPr>
          <a:xfrm>
            <a:off x="818388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part 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4639" y="1913839"/>
            <a:ext cx="332842" cy="3328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961120" y="175564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  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cuBLAS GEMM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FP64 · FP32 · TF32 · FP16 on tensor cores</a:t>
            </a:r>
            <a:endParaRPr lang="en-US" sz="1200" dirty="0"/>
          </a:p>
        </p:txBody>
      </p:sp>
      <p:sp>
        <p:nvSpPr>
          <p:cNvPr id="10" name="part B card"/>
          <p:cNvSpPr/>
          <p:nvPr/>
        </p:nvSpPr>
        <p:spPr>
          <a:xfrm>
            <a:off x="8001000" y="27889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223049"/>
          </a:solidFill>
          <a:ln/>
        </p:spPr>
      </p:sp>
      <p:sp>
        <p:nvSpPr>
          <p:cNvPr id="11" name="part B icon circle"/>
          <p:cNvSpPr/>
          <p:nvPr/>
        </p:nvSpPr>
        <p:spPr>
          <a:xfrm>
            <a:off x="818388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art B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639" y="310255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961120" y="294436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  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cuSPARSE SpMV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three sparse matrices vs one CPU core</a:t>
            </a:r>
            <a:endParaRPr lang="en-US" sz="1200" dirty="0"/>
          </a:p>
        </p:txBody>
      </p:sp>
      <p:sp>
        <p:nvSpPr>
          <p:cNvPr id="15" name="part C card"/>
          <p:cNvSpPr/>
          <p:nvPr/>
        </p:nvSpPr>
        <p:spPr>
          <a:xfrm>
            <a:off x="8001000" y="397764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223049"/>
          </a:solidFill>
          <a:ln/>
        </p:spPr>
      </p:sp>
      <p:sp>
        <p:nvSpPr>
          <p:cNvPr id="16" name="part C icon circle"/>
          <p:cNvSpPr/>
          <p:nvPr/>
        </p:nvSpPr>
        <p:spPr>
          <a:xfrm>
            <a:off x="8183880" y="41605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part 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639" y="4291279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61120" y="413308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  </a:t>
            </a:r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Conjugate gradient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961120" y="4480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SpMV + dot + axpy · where the GPU wins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multiply, and what could limit it</a:t>
            </a:r>
            <a:endParaRPr lang="en-US" sz="3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2435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Five inputs, three kernels — is each one limited by arithmetic, by memory bandwidth, or by latency?</a:t>
            </a:r>
            <a:endParaRPr lang="en-US" sz="1600" dirty="0"/>
          </a:p>
        </p:txBody>
      </p:sp>
      <p:sp>
        <p:nvSpPr>
          <p:cNvPr id="5" name="Dense n × n card"/>
          <p:cNvSpPr/>
          <p:nvPr/>
        </p:nvSpPr>
        <p:spPr>
          <a:xfrm>
            <a:off x="548640" y="1783080"/>
            <a:ext cx="2103120" cy="33832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6" name="Dense n × n tag"/>
          <p:cNvSpPr/>
          <p:nvPr/>
        </p:nvSpPr>
        <p:spPr>
          <a:xfrm>
            <a:off x="731520" y="1947672"/>
            <a:ext cx="1051560" cy="27432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476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 · GEMM</a:t>
            </a:r>
            <a:endParaRPr lang="en-US" sz="1100" dirty="0"/>
          </a:p>
        </p:txBody>
      </p:sp>
      <p:pic>
        <p:nvPicPr>
          <p:cNvPr id="8" name="Dense n × n structure" descr="/home/claude/deck2/figs/d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31720"/>
            <a:ext cx="1737360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1788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n × 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5079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128 … 16,384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every entry stored</a:t>
            </a:r>
            <a:endParaRPr lang="en-US" sz="1200" dirty="0"/>
          </a:p>
        </p:txBody>
      </p:sp>
      <p:sp>
        <p:nvSpPr>
          <p:cNvPr id="12" name="cant* card"/>
          <p:cNvSpPr/>
          <p:nvPr/>
        </p:nvSpPr>
        <p:spPr>
          <a:xfrm>
            <a:off x="2788920" y="1783080"/>
            <a:ext cx="2103120" cy="33832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cant* tag"/>
          <p:cNvSpPr/>
          <p:nvPr/>
        </p:nvSpPr>
        <p:spPr>
          <a:xfrm>
            <a:off x="2971800" y="1947672"/>
            <a:ext cx="1051560" cy="27432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71800" y="19476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 · SpMV</a:t>
            </a:r>
            <a:endParaRPr lang="en-US" sz="1100" dirty="0"/>
          </a:p>
        </p:txBody>
      </p:sp>
      <p:pic>
        <p:nvPicPr>
          <p:cNvPr id="15" name="cant* structure" descr="/home/claude/deck2/figs/c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331720"/>
            <a:ext cx="1737360" cy="1737360"/>
          </a:xfrm>
          <a:prstGeom prst="rect">
            <a:avLst/>
          </a:prstGeom>
        </p:spPr>
      </p:pic>
      <p:pic>
        <p:nvPicPr>
          <p:cNvPr id="16" name="cant* zoom" descr="/home/claude/deck2/figs/cant_zo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2386584"/>
            <a:ext cx="713232" cy="7132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971800" y="41788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cant*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2971800" y="45079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62k rows · 65 nnz/row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297180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banded, FEM-like · SPD</a:t>
            </a:r>
            <a:endParaRPr lang="en-US" sz="1200" dirty="0"/>
          </a:p>
        </p:txBody>
      </p:sp>
      <p:sp>
        <p:nvSpPr>
          <p:cNvPr id="20" name="ecology2* card"/>
          <p:cNvSpPr/>
          <p:nvPr/>
        </p:nvSpPr>
        <p:spPr>
          <a:xfrm>
            <a:off x="5029200" y="1783080"/>
            <a:ext cx="2103120" cy="33832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1" name="ecology2* tag"/>
          <p:cNvSpPr/>
          <p:nvPr/>
        </p:nvSpPr>
        <p:spPr>
          <a:xfrm>
            <a:off x="5212080" y="1947672"/>
            <a:ext cx="1051560" cy="27432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212080" y="19476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 · SpMV</a:t>
            </a:r>
            <a:endParaRPr lang="en-US" sz="1100" dirty="0"/>
          </a:p>
        </p:txBody>
      </p:sp>
      <p:pic>
        <p:nvPicPr>
          <p:cNvPr id="23" name="ecology2* structure" descr="/home/claude/deck2/figs/ecology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331720"/>
            <a:ext cx="1737360" cy="1737360"/>
          </a:xfrm>
          <a:prstGeom prst="rect">
            <a:avLst/>
          </a:prstGeom>
        </p:spPr>
      </p:pic>
      <p:pic>
        <p:nvPicPr>
          <p:cNvPr id="24" name="ecology2* zoom" descr="/home/claude/deck2/figs/ecology2_zoo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2386584"/>
            <a:ext cx="713232" cy="71323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212080" y="41788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ecology2*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5212080" y="45079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1M rows · 5.0 nnz/row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521208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2-D grid stencil · SPD</a:t>
            </a:r>
            <a:endParaRPr lang="en-US" sz="1200" dirty="0"/>
          </a:p>
        </p:txBody>
      </p:sp>
      <p:sp>
        <p:nvSpPr>
          <p:cNvPr id="28" name="webbase-1M* card"/>
          <p:cNvSpPr/>
          <p:nvPr/>
        </p:nvSpPr>
        <p:spPr>
          <a:xfrm>
            <a:off x="7269480" y="1783080"/>
            <a:ext cx="2103120" cy="33832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9" name="webbase-1M* tag"/>
          <p:cNvSpPr/>
          <p:nvPr/>
        </p:nvSpPr>
        <p:spPr>
          <a:xfrm>
            <a:off x="7452360" y="1947672"/>
            <a:ext cx="1051560" cy="27432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7452360" y="19476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 · SpMV</a:t>
            </a:r>
            <a:endParaRPr lang="en-US" sz="1100" dirty="0"/>
          </a:p>
        </p:txBody>
      </p:sp>
      <p:pic>
        <p:nvPicPr>
          <p:cNvPr id="31" name="webbase-1M* structure" descr="/home/claude/deck2/figs/webbase-1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2331720"/>
            <a:ext cx="1737360" cy="1737360"/>
          </a:xfrm>
          <a:prstGeom prst="rect">
            <a:avLst/>
          </a:prstGeom>
        </p:spPr>
      </p:pic>
      <p:pic>
        <p:nvPicPr>
          <p:cNvPr id="32" name="webbase-1M* zoom" descr="/home/claude/deck2/figs/webbase-1M_zoo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0768" y="2386584"/>
            <a:ext cx="713232" cy="71323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452360" y="41788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webbase-1M*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7452360" y="45079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1M rows · 1.7 nnz/row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745236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web graph · power-law rows</a:t>
            </a:r>
            <a:endParaRPr lang="en-US" sz="1200" dirty="0"/>
          </a:p>
        </p:txBody>
      </p:sp>
      <p:sp>
        <p:nvSpPr>
          <p:cNvPr id="36" name="2-D Poisson card"/>
          <p:cNvSpPr/>
          <p:nvPr/>
        </p:nvSpPr>
        <p:spPr>
          <a:xfrm>
            <a:off x="9509760" y="1783080"/>
            <a:ext cx="2103120" cy="33832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7" name="2-D Poisson tag"/>
          <p:cNvSpPr/>
          <p:nvPr/>
        </p:nvSpPr>
        <p:spPr>
          <a:xfrm>
            <a:off x="9692640" y="1947672"/>
            <a:ext cx="1051560" cy="27432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38" name="Text 29"/>
          <p:cNvSpPr txBox="1"/>
          <p:nvPr/>
        </p:nvSpPr>
        <p:spPr>
          <a:xfrm>
            <a:off x="9692640" y="19476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 · CG</a:t>
            </a:r>
            <a:endParaRPr lang="en-US" sz="1100" dirty="0"/>
          </a:p>
        </p:txBody>
      </p:sp>
      <p:pic>
        <p:nvPicPr>
          <p:cNvPr id="39" name="2-D Poisson structure" descr="/home/claude/deck2/figs/poiss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331720"/>
            <a:ext cx="1737360" cy="173736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692640" y="41788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2-D Poisson</a:t>
            </a:r>
            <a:endParaRPr lang="en-US" sz="1600" dirty="0"/>
          </a:p>
        </p:txBody>
      </p:sp>
      <p:sp>
        <p:nvSpPr>
          <p:cNvPr id="41" name="Text 31"/>
          <p:cNvSpPr txBox="1"/>
          <p:nvPr/>
        </p:nvSpPr>
        <p:spPr>
          <a:xfrm>
            <a:off x="9692640" y="45079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256 … 4.2M</a:t>
            </a:r>
            <a:endParaRPr lang="en-US" sz="1300" dirty="0"/>
          </a:p>
        </p:txBody>
      </p:sp>
      <p:sp>
        <p:nvSpPr>
          <p:cNvPr id="42" name="Text 32"/>
          <p:cNvSpPr txBox="1"/>
          <p:nvPr/>
        </p:nvSpPr>
        <p:spPr>
          <a:xfrm>
            <a:off x="9692640" y="4773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5-point stencil · SPD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548640" y="52303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synthetic stand-ins with the size and sparsity class of the SuiteSparse matrices (download failed on the run node)  ·  insets: first 3,000 rows</a:t>
            </a:r>
            <a:endParaRPr lang="en-US" sz="1100" dirty="0"/>
          </a:p>
        </p:txBody>
      </p:sp>
      <p:sp>
        <p:nvSpPr>
          <p:cNvPr id="44" name="intensity band"/>
          <p:cNvSpPr/>
          <p:nvPr/>
        </p:nvSpPr>
        <p:spPr>
          <a:xfrm>
            <a:off x="548640" y="5559552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EAF4D9"/>
          </a:solidFill>
          <a:ln/>
        </p:spPr>
      </p:sp>
      <p:sp>
        <p:nvSpPr>
          <p:cNvPr id="45" name="Text 35"/>
          <p:cNvSpPr txBox="1"/>
          <p:nvPr/>
        </p:nvSpPr>
        <p:spPr>
          <a:xfrm>
            <a:off x="777240" y="5559552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FLOP per byte decides the limit: 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GEMM </a:t>
            </a:r>
            <a:pPr indent="0" marL="0">
              <a:buNone/>
            </a:pPr>
            <a:r>
              <a:rPr lang="en-US" sz="1500" b="1" dirty="0">
                <a:solidFill>
                  <a:srgbClr val="4E7D00"/>
                </a:solidFill>
              </a:rPr>
              <a:t>grows with 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·  SpMV </a:t>
            </a:r>
            <a:pPr indent="0" marL="0">
              <a:buNone/>
            </a:pPr>
            <a:r>
              <a:rPr lang="en-US" sz="1500" b="1" dirty="0">
                <a:solidFill>
                  <a:srgbClr val="B07A00"/>
                </a:solidFill>
              </a:rPr>
              <a:t>≤ 1/6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·  CG ≈ 0.11 + latency  ·  ridge of this GPU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≈ 1.1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A · cuBLAS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GEMM is compute-bound: precision is the lever</a:t>
            </a:r>
            <a:endParaRPr lang="en-US" sz="3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2435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cublasGemmEx, n × n × n, data resident on the GPU — 215 TFLOP/s in FP16 vs 1.7 TFLOP/s in FP64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85800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2668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Precision ladder at n = 16,384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2148840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14400"/>
                <a:gridCol w="82296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65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65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TFLOP/s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65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FP64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65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rel.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5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2.7×10⁻⁷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6A8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2.9×10⁻⁴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76B9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125×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3.6×10⁻⁴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4251960"/>
            <a:ext cx="3886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Small n is launch-bound: TF32/FP16 calls with n ≤ 512 all take ≈ 11 µs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Tensor cores: TF32 1.8× and FP16 3.3× over FP32, for ≈ 3 fewer correct digits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FP64 runs at the consumer 1:64 rate, so SGEMM is 38× faster than DGEMM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B · cuSPARSE  +  ROOFLINE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SpMV is bandwidth-bound, GEMM compute-bound</a:t>
            </a:r>
            <a:endParaRPr lang="en-US" sz="3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2435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cuSPARSE SpMV reaches 0.90–1.06 TB/s (57–67% of measured bandwidth) and is 35–116× faster than one CPU core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54864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63640" y="1783080"/>
          <a:ext cx="53492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Reading: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SpMV sits at ≈ 0.1 FLOP/B, left of the ridge (1.1): most of the bandwidth, only 5–9% of DGEMM's FLOP/s — fewer bytes help, faster arithmetic does not.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 C · CONJUGATE GRADIENT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CG: the GPU wins above n ≈ 10⁴</a:t>
            </a:r>
            <a:endParaRPr lang="en-US" sz="3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24358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2-D Poisson, 100 iterations · cuSPARSE SpMV + cuBLAS dot/axpy vs SciPy/NumPy on one core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492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rossover card"/>
          <p:cNvSpPr/>
          <p:nvPr/>
        </p:nvSpPr>
        <p:spPr>
          <a:xfrm>
            <a:off x="7315200" y="1783080"/>
            <a:ext cx="4297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380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n* ≈ 1.05 × 10⁴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543800" y="2468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GPU iterations cost a flat ≈ 85 µs (launch + sync latency) until n ≈ 250k; one core streams ≈ 24 GB/s. Equating the two predicts 1.1 × 10⁴.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34015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Copies: speed-up, kernels only → with copies</a:t>
            </a:r>
            <a:endParaRPr lang="en-US" sz="1300" dirty="0"/>
          </a:p>
        </p:txBody>
      </p:sp>
      <p:sp>
        <p:nvSpPr>
          <p:cNvPr id="10" name="cant card"/>
          <p:cNvSpPr/>
          <p:nvPr/>
        </p:nvSpPr>
        <p:spPr>
          <a:xfrm>
            <a:off x="7315200" y="3730752"/>
            <a:ext cx="2103120" cy="1618488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79792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cant*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 23 its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479792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23×</a:t>
            </a:r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9.0×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479792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copies = 60% of GPU time</a:t>
            </a:r>
            <a:endParaRPr lang="en-US" sz="1200" dirty="0"/>
          </a:p>
        </p:txBody>
      </p:sp>
      <p:sp>
        <p:nvSpPr>
          <p:cNvPr id="14" name="ecology2 card"/>
          <p:cNvSpPr/>
          <p:nvPr/>
        </p:nvSpPr>
        <p:spPr>
          <a:xfrm>
            <a:off x="9509760" y="3730752"/>
            <a:ext cx="2103120" cy="1618488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74352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ecology2*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 500 its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74352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96×</a:t>
            </a:r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85×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674352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copies = 12% of GPU time</a:t>
            </a:r>
            <a:endParaRPr lang="en-US" sz="1200" dirty="0"/>
          </a:p>
        </p:txBody>
      </p:sp>
      <p:sp>
        <p:nvSpPr>
          <p:cNvPr id="18" name="takeaway band"/>
          <p:cNvSpPr/>
          <p:nvPr/>
        </p:nvSpPr>
        <p:spPr>
          <a:xfrm>
            <a:off x="548640" y="5532120"/>
            <a:ext cx="11064240" cy="713232"/>
          </a:xfrm>
          <a:prstGeom prst="roundRect">
            <a:avLst>
              <a:gd name="adj" fmla="val 15385"/>
            </a:avLst>
          </a:prstGeom>
          <a:solidFill>
            <a:schemeClr val="tx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553212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TAKEAWAY   </a:t>
            </a: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FLOP per byte decides what to optimise: 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GEMM → precision  ·  SpMV → bytes  ·  CG → latency, keep data on GPU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PU Kernels">
      <a:dk1>
        <a:srgbClr val="16202E"/>
      </a:dk1>
      <a:lt1>
        <a:srgbClr val="FFFFFF"/>
      </a:lt1>
      <a:dk2>
        <a:srgbClr val="2B3A4F"/>
      </a:dk2>
      <a:lt2>
        <a:srgbClr val="F1F4F8"/>
      </a:lt2>
      <a:accent1>
        <a:srgbClr val="76B900"/>
      </a:accent1>
      <a:accent2>
        <a:srgbClr val="3B82F6"/>
      </a:accent2>
      <a:accent3>
        <a:srgbClr val="E6A817"/>
      </a:accent3>
      <a:accent4>
        <a:srgbClr val="D64545"/>
      </a:accent4>
      <a:accent5>
        <a:srgbClr val="9AA5B4"/>
      </a:accent5>
      <a:accent6>
        <a:srgbClr val="5B6577"/>
      </a:accent6>
      <a:hlink>
        <a:srgbClr val="3B82F6"/>
      </a:hlink>
      <a:folHlink>
        <a:srgbClr val="2B3A4F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GPU kernels on real matrices</dc:title>
  <dc:subject>PptxGenJS Presentation</dc:subject>
  <dc:creator>Numerical Libraries Mini-Hackathon</dc:creator>
  <cp:lastModifiedBy>Numerical Libraries Mini-Hackathon</cp:lastModifiedBy>
  <cp:revision>1</cp:revision>
  <dcterms:created xsi:type="dcterms:W3CDTF">2026-10-15T17:19:38Z</dcterms:created>
  <dcterms:modified xsi:type="dcterms:W3CDTF">2026-10-15T17:19:38Z</dcterms:modified>
</cp:coreProperties>
</file>